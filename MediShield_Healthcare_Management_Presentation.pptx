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418320" y="731520"/>
            <a:ext cx="1828800" cy="1828800"/>
          </a:xfrm>
          <a:prstGeom prst="ellipse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287000" y="1920240"/>
            <a:ext cx="1051560" cy="1051560"/>
          </a:xfrm>
          <a:prstGeom prst="ellipse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686800" y="2743200"/>
            <a:ext cx="685800" cy="685800"/>
          </a:xfrm>
          <a:prstGeom prst="ellipse">
            <a:avLst/>
          </a:prstGeom>
          <a:solidFill>
            <a:srgbClr val="588B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731520"/>
            <a:ext cx="2423160" cy="320040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768096"/>
            <a:ext cx="23317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OOP MINI PROJECT  •  2026–2027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13232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4200" b="1">
                <a:solidFill>
                  <a:srgbClr val="FFFFFF"/>
                </a:solidFill>
                <a:latin typeface="Aptos"/>
              </a:rPr>
              <a:t>MediShield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331720"/>
            <a:ext cx="71323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400" b="0">
                <a:solidFill>
                  <a:srgbClr val="D7F8F1"/>
                </a:solidFill>
                <a:latin typeface="Aptos"/>
              </a:rPr>
              <a:t>Healthcare Management System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3154680"/>
            <a:ext cx="6583680" cy="914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A role-aware prototype for patient workflows, appointments,</a:t>
            </a:r>
          </a:p>
          <a:p>
            <a:pPr algn="l">
              <a:spcAft>
                <a:spcPts val="500"/>
              </a:spcAft>
            </a:pPr>
            <a:r>
              <a:rPr sz="1800" b="0">
                <a:solidFill>
                  <a:srgbClr val="FFFFFF"/>
                </a:solidFill>
                <a:latin typeface="Aptos"/>
              </a:rPr>
              <a:t>clinical-record access, and audit logging.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4892040"/>
            <a:ext cx="658368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BFCFDE"/>
                </a:solidFill>
                <a:latin typeface="Aptos"/>
              </a:rPr>
              <a:t>MIT World Peace University, Pune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BFCFDE"/>
                </a:solidFill>
                <a:latin typeface="Aptos"/>
              </a:rPr>
              <a:t>Department of Computer Engineering and Technology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BFCFDE"/>
                </a:solidFill>
                <a:latin typeface="Aptos"/>
              </a:rPr>
              <a:t>Course: Object Oriented Programming Laboratory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0" y="4069080"/>
            <a:ext cx="21945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23BEAA"/>
                </a:solidFill>
                <a:latin typeface="Aptos"/>
              </a:rPr>
              <a:t>Project team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416552"/>
            <a:ext cx="329184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Aditya Mohite  •  Aarna Kale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Parth Lohate  •  Anurag Chavan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FFFFFF"/>
                </a:solidFill>
                <a:latin typeface="Aptos"/>
              </a:rPr>
              <a:t>Jahnav Vyas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5715000"/>
            <a:ext cx="310896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BFCFDE"/>
                </a:solidFill>
                <a:latin typeface="Aptos"/>
              </a:rPr>
              <a:t>Guided by Dr. Vinayak Musale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Why MediShield?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01 • 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D1F38"/>
                </a:solidFill>
                <a:latin typeface="Aptos"/>
              </a:rPr>
              <a:t>Healthcare administration depends on connected workflows and clear access boundaries.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74519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" y="1984248"/>
            <a:ext cx="64008" cy="160934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202082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Fragmented workflows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2441448"/>
            <a:ext cx="3063240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Separate tracking can make patient lookup slower, duplicate entries, and obscure appointment status.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2" y="1874519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2" y="1984248"/>
            <a:ext cx="64008" cy="160934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02082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Sensitive information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441448"/>
            <a:ext cx="3063240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Clinical records should only be available to staff whose role permits access.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874519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984248"/>
            <a:ext cx="64008" cy="160934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02082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Need for traceability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441448"/>
            <a:ext cx="3063240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Allowed and denied actions should be visible so access decisions can be reviewed.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160520"/>
            <a:ext cx="21945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Project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4526280"/>
            <a:ext cx="10789920" cy="155448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Bring workflows together — dashboard, patient directory, appointments, records, and security centre</a:t>
            </a:r>
          </a:p>
          <a:p>
            <a:pPr>
              <a:spcAft>
                <a:spcPts val="5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Make permissions visible — Administrator, Doctor, and Receptionist have different capabilities</a:t>
            </a:r>
          </a:p>
          <a:p>
            <a:pPr>
              <a:spcAft>
                <a:spcPts val="5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Apply OOP in context — classes, encapsulation, validation, and member functions in C++17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Problem Definition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02 •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521208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35607"/>
            <a:ext cx="64008" cy="160934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Core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4846320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F40"/>
                </a:solidFill>
                <a:latin typeface="Aptos"/>
              </a:rPr>
              <a:t>Demonstrate a coherent healthcare-administration workflow while ensuring role permissions are visible and testable.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325880"/>
            <a:ext cx="530352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72200" y="1435607"/>
            <a:ext cx="64008" cy="160934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472184"/>
            <a:ext cx="49560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Proposed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73368" y="1892807"/>
            <a:ext cx="4937759" cy="11430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F40"/>
                </a:solidFill>
                <a:latin typeface="Aptos"/>
              </a:rPr>
              <a:t>A browser-based prototype paired with a standalone C++17 model for users, patients, permissions, and audit events.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20440"/>
            <a:ext cx="18288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D1F38"/>
                </a:solidFill>
                <a:latin typeface="Aptos"/>
              </a:rPr>
              <a:t>Objectives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886200"/>
            <a:ext cx="10881360" cy="201168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Summarise patient and appointment activity on a dashboard.</a:t>
            </a:r>
          </a:p>
          <a:p>
            <a:pPr>
              <a:spcAft>
                <a:spcPts val="4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Support patient registration and searching, plus appointment booking.</a:t>
            </a:r>
          </a:p>
          <a:p>
            <a:pPr>
              <a:spcAft>
                <a:spcPts val="4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Restrict clinical-record actions by staff role.</a:t>
            </a:r>
          </a:p>
          <a:p>
            <a:pPr>
              <a:spcAft>
                <a:spcPts val="4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Validate basic patient fields and log important access decisions.</a:t>
            </a:r>
          </a:p>
          <a:p>
            <a:pPr>
              <a:spcAft>
                <a:spcPts val="400"/>
              </a:spcAft>
              <a:defRPr sz="1500">
                <a:solidFill>
                  <a:srgbClr val="1F2F40"/>
                </a:solidFill>
                <a:latin typeface="Aptos"/>
              </a:defRPr>
            </a:pPr>
            <a:r>
              <a:t>•  Demonstrate classes, constructors, encapsulation, and member functions.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System Modules &amp; User-Facing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03 • FEATURES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435607"/>
            <a:ext cx="64008" cy="147218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47218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Dashboard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1892807"/>
            <a:ext cx="30632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F40"/>
                </a:solidFill>
                <a:latin typeface="Aptos"/>
              </a:rPr>
              <a:t>Overview statistics and recent activity.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435607"/>
            <a:ext cx="64008" cy="147218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7218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Patient Directory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892807"/>
            <a:ext cx="30632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F40"/>
                </a:solidFill>
                <a:latin typeface="Aptos"/>
              </a:rPr>
              <a:t>Search profiles and register sample patients.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2588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435607"/>
            <a:ext cx="64008" cy="1472184"/>
          </a:xfrm>
          <a:prstGeom prst="rect">
            <a:avLst/>
          </a:prstGeom>
          <a:solidFill>
            <a:srgbClr val="52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47218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Appointments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1892807"/>
            <a:ext cx="30632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F40"/>
                </a:solidFill>
                <a:latin typeface="Aptos"/>
              </a:rPr>
              <a:t>View the schedule and book a slot.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4290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3538728"/>
            <a:ext cx="64008" cy="147218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357530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Medical Records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3995928"/>
            <a:ext cx="30632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F40"/>
                </a:solidFill>
                <a:latin typeface="Aptos"/>
              </a:rPr>
              <a:t>Demonstrate clinical-note interactions and role-checked access.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70832" y="34290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370832" y="3538728"/>
            <a:ext cx="64008" cy="147218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0" y="357530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Security Centre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3995928"/>
            <a:ext cx="30632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F40"/>
                </a:solidFill>
                <a:latin typeface="Aptos"/>
              </a:rPr>
              <a:t>Role rules, validation explanation, and allow/deny audit events.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429000"/>
            <a:ext cx="3429000" cy="169164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20" y="3538728"/>
            <a:ext cx="64008" cy="147218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357530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Sign-in &amp; OOP model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995928"/>
            <a:ext cx="3063240" cy="10058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F40"/>
                </a:solidFill>
                <a:latin typeface="Aptos"/>
              </a:rPr>
              <a:t>Select a staff role; C++ models users, patients, permissions, and logging.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715000"/>
            <a:ext cx="1060704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667A8F"/>
                </a:solidFill>
                <a:latin typeface="Aptos"/>
              </a:rPr>
              <a:t>The browser UI is a demonstration; it is not a clinical diagnosis or treatment system.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Role-Based Access Control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04 • SECURITY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0">
                <a:solidFill>
                  <a:srgbClr val="1F2F40"/>
                </a:solidFill>
                <a:latin typeface="Aptos"/>
              </a:rPr>
              <a:t>Access is determined by the active staff role; the report highlights Doctor and Administrator access to clinical records.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0116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2121408"/>
            <a:ext cx="64008" cy="206654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15798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578608"/>
            <a:ext cx="3063240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Broad management role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Dashboard and staff workspace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Patient-management actions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Clinical-record access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0116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2121408"/>
            <a:ext cx="64008" cy="2066543"/>
          </a:xfrm>
          <a:prstGeom prst="rect">
            <a:avLst/>
          </a:prstGeom>
          <a:solidFill>
            <a:srgbClr val="52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0288" y="215798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Doctor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0288" y="2578608"/>
            <a:ext cx="3063240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Clinical workflow role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View clinical-record workspace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Clinical action is permitted and logged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011680"/>
            <a:ext cx="34290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2121408"/>
            <a:ext cx="64008" cy="2066543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2157984"/>
            <a:ext cx="308152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Receptionist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47888" y="2578608"/>
            <a:ext cx="3063240" cy="1600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Front-desk workflow role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Patient registration/search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Appointment booking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• Clinical-record access is denied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800600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Example policy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193792"/>
            <a:ext cx="10424160" cy="7772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F40"/>
                </a:solidFill>
                <a:latin typeface="Aptos"/>
              </a:rPr>
              <a:t>Doctor or Administrator → ALLOW clinical-record action</a:t>
            </a: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1F2F40"/>
                </a:solidFill>
                <a:latin typeface="Aptos"/>
              </a:rPr>
              <a:t>Receptionist → DENY clinical-record action; record the decision in the audit display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080760"/>
            <a:ext cx="1051560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E25B5B"/>
                </a:solidFill>
                <a:latin typeface="Aptos"/>
              </a:rPr>
              <a:t>Prototype-level control only: production authorization must be enforced server-side.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05 •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0D1F38"/>
                </a:solidFill>
                <a:latin typeface="Aptos"/>
              </a:rPr>
              <a:t>Two related demonstrations share concepts, but are not connected at runtime.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28800"/>
            <a:ext cx="49834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31520" y="1938528"/>
            <a:ext cx="64008" cy="252374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46360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Browser presentation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4617720" cy="2057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index.html — dashboard and sections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style.css / roles.css / signin.css — visual presentation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script.js — navigation, forms, role-dependent controls, search, and audit display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Data: JavaScript arrays, DOM, and browser localStorage.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28800"/>
            <a:ext cx="498348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46520" y="1938528"/>
            <a:ext cx="64008" cy="252374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1975104"/>
            <a:ext cx="46360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Standalone C++17 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395728"/>
            <a:ext cx="4617720" cy="20574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User — staff identity, role, verification, permission methods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Patient — patient details and validation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HealthcareSystem — registration and permission coordination</a:t>
            </a: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AuditLogger — allowed/denied action events</a:t>
            </a:r>
          </a:p>
          <a:p>
            <a:pPr algn="l">
              <a:spcAft>
                <a:spcPts val="500"/>
              </a:spcAft>
            </a:pPr>
          </a:p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Data: in-memory vector of Patient objects.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2971800"/>
            <a:ext cx="731520" cy="0"/>
          </a:xfrm>
          <a:prstGeom prst="line">
            <a:avLst/>
          </a:prstGeom>
          <a:ln w="25400">
            <a:solidFill>
              <a:srgbClr val="E25B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074920" y="3246120"/>
            <a:ext cx="21031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E25B5B"/>
                </a:solidFill>
                <a:latin typeface="Aptos"/>
              </a:rPr>
              <a:t>No API / database connection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166360"/>
            <a:ext cx="1060704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0">
                <a:solidFill>
                  <a:srgbClr val="1F2F40"/>
                </a:solidFill>
                <a:latin typeface="Aptos"/>
              </a:rPr>
              <a:t>Implication: browser changes are demonstration data and are not transferred to the C++ program.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Object-Oriented Design in C++17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06 •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435607"/>
            <a:ext cx="64008" cy="128930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47218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Classes &amp; objects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892807"/>
            <a:ext cx="484632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User, Patient, HealthcareSystem, and AuditLogger model the domain.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258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435607"/>
            <a:ext cx="64008" cy="128930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47218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Encapsulation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892807"/>
            <a:ext cx="484632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Private data members protect internal state; selected public methods expose operations.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264408"/>
            <a:ext cx="64008" cy="1289304"/>
          </a:xfrm>
          <a:prstGeom prst="rect">
            <a:avLst/>
          </a:prstGeom>
          <a:solidFill>
            <a:srgbClr val="52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30098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Constructors &amp; abstraction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721608"/>
            <a:ext cx="484632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Constructors initialise objects; validation and permission methods provide a simpler interface.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154680"/>
            <a:ext cx="52120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264408"/>
            <a:ext cx="64008" cy="128930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30098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Enum class Role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3721608"/>
            <a:ext cx="4846320" cy="82295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Represents Administrator, Doctor, and Receptionist as explicit role categories.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66360"/>
            <a:ext cx="137160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1F38"/>
                </a:solidFill>
                <a:latin typeface="Aptos"/>
              </a:rPr>
              <a:t>Scope note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486400"/>
            <a:ext cx="1078992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Inheritance and runtime polymorphism are not materially used in the current implementation and should not be claimed as implemented.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Validation, Permissions &amp; Audit Logging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07 •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874519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984248"/>
            <a:ext cx="64008" cy="174650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020824"/>
            <a:ext cx="15270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D1F38"/>
                </a:solidFill>
                <a:latin typeface="Aptos"/>
              </a:rPr>
              <a:t>1.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441448"/>
            <a:ext cx="150876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F40"/>
                </a:solidFill>
                <a:latin typeface="Aptos"/>
              </a:rPr>
              <a:t>User signs in or attempts an action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377439" y="2834640"/>
            <a:ext cx="457201" cy="0"/>
          </a:xfrm>
          <a:prstGeom prst="line">
            <a:avLst/>
          </a:prstGeom>
          <a:ln w="19050">
            <a:solidFill>
              <a:srgbClr val="667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34640" y="1874519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34640" y="1984248"/>
            <a:ext cx="64008" cy="1746504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35808" y="2020824"/>
            <a:ext cx="15270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D1F38"/>
                </a:solidFill>
                <a:latin typeface="Aptos"/>
              </a:rPr>
              <a:t>2. Check role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441448"/>
            <a:ext cx="150876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F40"/>
                </a:solidFill>
                <a:latin typeface="Aptos"/>
              </a:rPr>
              <a:t>Verify whether the role may perform it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9160" y="2834640"/>
            <a:ext cx="457200" cy="0"/>
          </a:xfrm>
          <a:prstGeom prst="line">
            <a:avLst/>
          </a:prstGeom>
          <a:ln w="19050">
            <a:solidFill>
              <a:srgbClr val="667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166360" y="1874519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166360" y="1984248"/>
            <a:ext cx="64008" cy="1746504"/>
          </a:xfrm>
          <a:prstGeom prst="rect">
            <a:avLst/>
          </a:prstGeom>
          <a:solidFill>
            <a:srgbClr val="52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67528" y="2020824"/>
            <a:ext cx="15270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D1F38"/>
                </a:solidFill>
                <a:latin typeface="Aptos"/>
              </a:rPr>
              <a:t>3. Validate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67528" y="2441448"/>
            <a:ext cx="150876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F40"/>
                </a:solidFill>
                <a:latin typeface="Aptos"/>
              </a:rPr>
              <a:t>Check required patient fields and formats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40880" y="2834640"/>
            <a:ext cx="457199" cy="0"/>
          </a:xfrm>
          <a:prstGeom prst="line">
            <a:avLst/>
          </a:prstGeom>
          <a:ln w="19050">
            <a:solidFill>
              <a:srgbClr val="667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498079" y="1874519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98079" y="1984248"/>
            <a:ext cx="64008" cy="1746504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99248" y="2020824"/>
            <a:ext cx="15270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D1F38"/>
                </a:solidFill>
                <a:latin typeface="Aptos"/>
              </a:rPr>
              <a:t>4. Decide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99248" y="2441448"/>
            <a:ext cx="150876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F40"/>
                </a:solidFill>
                <a:latin typeface="Aptos"/>
              </a:rPr>
              <a:t>Allow valid, permitted action; otherwise block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72600" y="2834640"/>
            <a:ext cx="457200" cy="0"/>
          </a:xfrm>
          <a:prstGeom prst="line">
            <a:avLst/>
          </a:prstGeom>
          <a:ln w="19050">
            <a:solidFill>
              <a:srgbClr val="667A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829800" y="1874519"/>
            <a:ext cx="1874519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829800" y="1984248"/>
            <a:ext cx="64008" cy="174650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30968" y="2020824"/>
            <a:ext cx="152704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D1F38"/>
                </a:solidFill>
                <a:latin typeface="Aptos"/>
              </a:rPr>
              <a:t>5.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30968" y="2441448"/>
            <a:ext cx="150876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F2F40"/>
                </a:solidFill>
                <a:latin typeface="Aptos"/>
              </a:rPr>
              <a:t>Display ALLOW or DENY event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389120"/>
            <a:ext cx="40233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Patient validation in the C++ model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4754880"/>
            <a:ext cx="5029200" cy="123444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300"/>
              </a:spcAft>
              <a:defRPr sz="1400">
                <a:solidFill>
                  <a:srgbClr val="1F2F40"/>
                </a:solidFill>
                <a:latin typeface="Aptos"/>
              </a:defRPr>
            </a:pPr>
            <a:r>
              <a:t>•  Name: length and character checks.</a:t>
            </a:r>
          </a:p>
          <a:p>
            <a:pPr>
              <a:spcAft>
                <a:spcPts val="300"/>
              </a:spcAft>
              <a:defRPr sz="1400">
                <a:solidFill>
                  <a:srgbClr val="1F2F40"/>
                </a:solidFill>
                <a:latin typeface="Aptos"/>
              </a:defRPr>
            </a:pPr>
            <a:r>
              <a:t>•  Age: range check.</a:t>
            </a:r>
          </a:p>
          <a:p>
            <a:pPr>
              <a:spcAft>
                <a:spcPts val="300"/>
              </a:spcAft>
              <a:defRPr sz="1400">
                <a:solidFill>
                  <a:srgbClr val="1F2F40"/>
                </a:solidFill>
                <a:latin typeface="Aptos"/>
              </a:defRPr>
            </a:pPr>
            <a:r>
              <a:t>•  Email: basic presence-of-‘@’ check.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0" y="4389120"/>
            <a:ext cx="36576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E25B5B"/>
                </a:solidFill>
                <a:latin typeface="Aptos"/>
              </a:rPr>
              <a:t>Important security caveat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26480" y="4754880"/>
            <a:ext cx="5212080" cy="12344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The educational password transformation uses std::hash; browser-side checks are not a security boundary. Neither is suitable for production patient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Development Methodology &amp;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08 •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4864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000" b="1">
                <a:solidFill>
                  <a:srgbClr val="0D1F38"/>
                </a:solidFill>
                <a:latin typeface="Aptos"/>
              </a:rPr>
              <a:t>Iterative, module-based development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938528"/>
            <a:ext cx="438912" cy="320040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975104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47672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Identify users and use cases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2578608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86968" y="2688336"/>
            <a:ext cx="438912" cy="320040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724912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2697479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Design modules and navigation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328415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86968" y="3438144"/>
            <a:ext cx="438912" cy="320040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3474720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447287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Define roles and permission rules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078224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86968" y="4187952"/>
            <a:ext cx="438912" cy="320040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224528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4197096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Build HTML and CSS interface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77240" y="4828031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86968" y="4937759"/>
            <a:ext cx="438912" cy="320040"/>
          </a:xfrm>
          <a:prstGeom prst="round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2688" y="4974336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4946903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Add JavaScript interactions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828800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327648" y="1938528"/>
            <a:ext cx="438912" cy="320040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73368" y="1975104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1947672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Implement C++ classes and validation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578608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27648" y="2688336"/>
            <a:ext cx="438912" cy="320040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73368" y="2724912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20" y="2697479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Compile and run the C++ model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328415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27648" y="3438144"/>
            <a:ext cx="438912" cy="320040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3474720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3447287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Check permitted and denied scenarios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78224"/>
            <a:ext cx="4983480" cy="530352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327648" y="4187952"/>
            <a:ext cx="438912" cy="320040"/>
          </a:xfrm>
          <a:prstGeom prst="round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73368" y="4224528"/>
            <a:ext cx="347472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500"/>
              </a:spcAft>
            </a:pPr>
            <a:r>
              <a:rPr sz="1000" b="1">
                <a:solidFill>
                  <a:srgbClr val="0D1F38"/>
                </a:solidFill>
                <a:latin typeface="Apto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4197096"/>
            <a:ext cx="406908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1F2F40"/>
                </a:solidFill>
                <a:latin typeface="Aptos"/>
              </a:rPr>
              <a:t>Document limitations and future work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63640" y="5715000"/>
            <a:ext cx="192024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E25B5B"/>
                </a:solidFill>
                <a:latin typeface="Aptos"/>
              </a:rPr>
              <a:t>Integration boundary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38160" y="5715000"/>
            <a:ext cx="310896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Frontend and C++ model remain separate because no API or database is present.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Core Algorithms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09 • LOGIC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527048"/>
            <a:ext cx="64008" cy="1655063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56362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Sign-in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984248"/>
            <a:ext cx="4846320" cy="118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Read staff ID/password → find configured account → verify credentials → set role and log ALLOW, or show error.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41732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527048"/>
            <a:ext cx="64008" cy="1655063"/>
          </a:xfrm>
          <a:prstGeom prst="rect">
            <a:avLst/>
          </a:prstGeom>
          <a:solidFill>
            <a:srgbClr val="FFAD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56362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Patient registration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984248"/>
            <a:ext cx="4846320" cy="118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Check role permission → validate name/email/age → create ID → add to in-memory collection → log result.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767328"/>
            <a:ext cx="64008" cy="1655063"/>
          </a:xfrm>
          <a:prstGeom prst="rect">
            <a:avLst/>
          </a:prstGeom>
          <a:solidFill>
            <a:srgbClr val="5291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" y="380390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Clinical-record access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4224528"/>
            <a:ext cx="4846320" cy="118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Check if role is Doctor or Administrator → allow and log ALLOW; otherwise block and log DENY.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657600"/>
            <a:ext cx="5212080" cy="1874519"/>
          </a:xfrm>
          <a:prstGeom prst="roundRect">
            <a:avLst/>
          </a:prstGeom>
          <a:solidFill>
            <a:srgbClr val="FFFFFF"/>
          </a:solidFill>
          <a:ln>
            <a:solidFill>
              <a:srgbClr val="E0E8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17920" y="3767328"/>
            <a:ext cx="64008" cy="1655063"/>
          </a:xfrm>
          <a:prstGeom prst="rect">
            <a:avLst/>
          </a:prstGeom>
          <a:solidFill>
            <a:srgbClr val="E25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3803904"/>
            <a:ext cx="4864608" cy="310896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0D1F38"/>
                </a:solidFill>
                <a:latin typeface="Aptos"/>
              </a:rPr>
              <a:t>Appointment booking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9088" y="4224528"/>
            <a:ext cx="4846320" cy="1188719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F2F40"/>
                </a:solidFill>
                <a:latin typeface="Aptos"/>
              </a:rPr>
              <a:t>Check booking permission → validate form → append appointment to schedule → update count and log.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89320"/>
            <a:ext cx="1069848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667A8F"/>
                </a:solidFill>
                <a:latin typeface="Aptos"/>
              </a:rPr>
              <a:t>These are report-level algorithm summaries; they describe intended behaviour rather than measured performance.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78992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700" b="1">
                <a:solidFill>
                  <a:srgbClr val="0D1F38"/>
                </a:solidFill>
                <a:latin typeface="Aptos"/>
              </a:rPr>
              <a:t>Test Plan &amp; Expected Outcomes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12648" y="941832"/>
            <a:ext cx="731520" cy="50292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393192"/>
            <a:ext cx="2240280" cy="2286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900" b="1">
                <a:solidFill>
                  <a:srgbClr val="667A8F"/>
                </a:solidFill>
                <a:latin typeface="Aptos"/>
              </a:rPr>
              <a:t>10 • VERIFICATION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64040" y="6510528"/>
            <a:ext cx="2148840" cy="16459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800" b="1">
                <a:solidFill>
                  <a:srgbClr val="667A8F"/>
                </a:solidFill>
                <a:latin typeface="Aptos"/>
              </a:rPr>
              <a:t>MEDISHIELD  •  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E25B5B"/>
                </a:solidFill>
                <a:latin typeface="Aptos"/>
              </a:rPr>
              <a:t>The report lists representative test cases; actual execution/status is marked “To be verified.”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1234440" cy="438912"/>
          </a:xfrm>
          <a:prstGeom prst="rect">
            <a:avLst/>
          </a:prstGeom>
          <a:solidFill>
            <a:srgbClr val="142F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" y="1883664"/>
            <a:ext cx="109728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Test ID</a:t>
            </a:r>
          </a:p>
        </p:txBody>
      </p:sp>
      <p:sp>
        <p:nvSpPr>
          <p:cNvPr id="9" name="Rectangle 8"/>
          <p:cNvSpPr/>
          <p:nvPr/>
        </p:nvSpPr>
        <p:spPr>
          <a:xfrm>
            <a:off x="1965960" y="1783080"/>
            <a:ext cx="3840480" cy="438912"/>
          </a:xfrm>
          <a:prstGeom prst="rect">
            <a:avLst/>
          </a:prstGeom>
          <a:solidFill>
            <a:srgbClr val="142F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39112" y="1883664"/>
            <a:ext cx="370332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Scenario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806440" y="1783080"/>
            <a:ext cx="5623560" cy="438912"/>
          </a:xfrm>
          <a:prstGeom prst="rect">
            <a:avLst/>
          </a:prstGeom>
          <a:solidFill>
            <a:srgbClr val="142F4E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79592" y="1883664"/>
            <a:ext cx="54864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FFFFFF"/>
                </a:solidFill>
                <a:latin typeface="Aptos"/>
              </a:rPr>
              <a:t>Expected result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221991"/>
            <a:ext cx="12344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295144"/>
            <a:ext cx="108813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TC-01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65960" y="2221991"/>
            <a:ext cx="3840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39112" y="2295144"/>
            <a:ext cx="369417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Valid administrator sign-in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806440" y="2221991"/>
            <a:ext cx="5623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79592" y="2295144"/>
            <a:ext cx="547725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Dashboard opens with administrator permissions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2798063"/>
            <a:ext cx="123444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4672" y="2871215"/>
            <a:ext cx="108813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TC-02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965960" y="2798063"/>
            <a:ext cx="384048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039112" y="2871215"/>
            <a:ext cx="369417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Invalid sign-in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806440" y="2798063"/>
            <a:ext cx="562356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79592" y="2871215"/>
            <a:ext cx="547725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Error appears; workspace remains unavailable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3374135"/>
            <a:ext cx="12344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3447287"/>
            <a:ext cx="108813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TC-03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965960" y="3374135"/>
            <a:ext cx="3840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039112" y="3447287"/>
            <a:ext cx="369417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Receptionist registers patient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3374135"/>
            <a:ext cx="5623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79592" y="3447287"/>
            <a:ext cx="547725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Patient appears in directory; ALLOW event recorded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" y="3950208"/>
            <a:ext cx="123444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023360"/>
            <a:ext cx="108813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TC-04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965960" y="3950208"/>
            <a:ext cx="384048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039112" y="4023360"/>
            <a:ext cx="369417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Doctor opens clinical records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06440" y="3950208"/>
            <a:ext cx="562356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879592" y="4023360"/>
            <a:ext cx="547725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Access is available and logged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" y="4526279"/>
            <a:ext cx="123444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2" y="4599431"/>
            <a:ext cx="108813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TC-05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965960" y="4526279"/>
            <a:ext cx="384048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039112" y="4599431"/>
            <a:ext cx="369417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Receptionist tries clinical records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806440" y="4526279"/>
            <a:ext cx="5623560" cy="576072"/>
          </a:xfrm>
          <a:prstGeom prst="rect">
            <a:avLst/>
          </a:prstGeom>
          <a:solidFill>
            <a:srgbClr val="FFFFFF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79592" y="4599431"/>
            <a:ext cx="547725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Access is denied and DENY event recorded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31520" y="5102352"/>
            <a:ext cx="123444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04672" y="5175504"/>
            <a:ext cx="108813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1">
                <a:solidFill>
                  <a:srgbClr val="0D1F38"/>
                </a:solidFill>
                <a:latin typeface="Aptos"/>
              </a:rPr>
              <a:t>TC-06 / 07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965960" y="5102352"/>
            <a:ext cx="384048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39112" y="5175504"/>
            <a:ext cx="369417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Search &amp; appointment booking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806440" y="5102352"/>
            <a:ext cx="5623560" cy="576072"/>
          </a:xfrm>
          <a:prstGeom prst="rect">
            <a:avLst/>
          </a:prstGeom>
          <a:solidFill>
            <a:srgbClr val="E2EEF9"/>
          </a:solidFill>
          <a:ln>
            <a:solidFill>
              <a:srgbClr val="DCE5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79592" y="5175504"/>
            <a:ext cx="5477256" cy="420624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1F2F40"/>
                </a:solidFill>
                <a:latin typeface="Aptos"/>
              </a:rPr>
              <a:t>Matching rows remain visible; valid booking is added and logged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89320"/>
            <a:ext cx="106984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25B5B"/>
                </a:solidFill>
                <a:latin typeface="Aptos"/>
              </a:rPr>
              <a:t>Do not present these as completed tests until the scenarios have been run and actual results recorded.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502920"/>
            <a:ext cx="10789920" cy="5486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2900" b="1">
                <a:solidFill>
                  <a:srgbClr val="FFFFFF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713232" y="1143000"/>
            <a:ext cx="777240" cy="54864"/>
          </a:xfrm>
          <a:prstGeom prst="rect">
            <a:avLst/>
          </a:prstGeom>
          <a:solidFill>
            <a:srgbClr val="23BE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493776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23BEAA"/>
                </a:solidFill>
                <a:latin typeface="Aptos"/>
              </a:rPr>
              <a:t>What the prototype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5120640" cy="182880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Healthcare workflow modules with role-specific navigation.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C++ classes, constructors, encapsulation, and validation.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  <a:latin typeface="Aptos"/>
              </a:defRPr>
            </a:pPr>
            <a:r>
              <a:t>•  Permission checks and readable ALLOW / DENY audit events.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508760"/>
            <a:ext cx="29260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800" b="1">
                <a:solidFill>
                  <a:srgbClr val="FFAD5C"/>
                </a:solidFill>
                <a:latin typeface="Aptos"/>
              </a:rPr>
              <a:t>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965960"/>
            <a:ext cx="5212080" cy="2514600"/>
          </a:xfrm>
          <a:prstGeom prst="rect">
            <a:avLst/>
          </a:prstGeom>
          <a:noFill/>
        </p:spPr>
        <p:txBody>
          <a:bodyPr wrap="square" lIns="73152" rIns="45720" b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Secure API and relational database.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Salted Argon2id, bcrypt, or scrypt password hashing; HTTPS and server-side RBAC.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Secure timestamped audit history, backups, and automated tests.</a:t>
            </a:r>
          </a:p>
          <a:p>
            <a:pPr>
              <a:spcAft>
                <a:spcPts val="700"/>
              </a:spcAft>
              <a:defRPr sz="1400">
                <a:solidFill>
                  <a:srgbClr val="FFFFFF"/>
                </a:solidFill>
                <a:latin typeface="Aptos"/>
              </a:defRPr>
            </a:pPr>
            <a:r>
              <a:t>•  Appointment conflict checks, consent-based export, accessibility, and privacy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92040"/>
            <a:ext cx="10744200" cy="822960"/>
          </a:xfrm>
          <a:prstGeom prst="roundRect">
            <a:avLst/>
          </a:prstGeom>
          <a:solidFill>
            <a:srgbClr val="142F4E"/>
          </a:solidFill>
          <a:ln>
            <a:solidFill>
              <a:srgbClr val="3757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5102352"/>
            <a:ext cx="10241280" cy="38404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FFFFFF"/>
                </a:solidFill>
                <a:latin typeface="Aptos"/>
              </a:rPr>
              <a:t>Key limitation: this is an educational prototype, not a production healthcare system. Do not enter real or confidential patient data.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080760"/>
            <a:ext cx="457200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3BEAA"/>
                </a:solidFill>
                <a:latin typeface="Aptos"/>
              </a:rPr>
              <a:t>Thank you  •  Questions?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236208"/>
            <a:ext cx="5029200" cy="201168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500"/>
              </a:spcAft>
            </a:pPr>
            <a:r>
              <a:rPr sz="1000" b="0">
                <a:solidFill>
                  <a:srgbClr val="BFCFDE"/>
                </a:solidFill>
                <a:latin typeface="Aptos"/>
              </a:rPr>
              <a:t>MIT-WPU • OOP Laboratory • Academic Year 2026–2027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